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1097280"/>
            <a:ext cx="3840480" cy="3840480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47120" y="5120640"/>
            <a:ext cx="3108960" cy="3108960"/>
          </a:xfrm>
          <a:prstGeom prst="ellipse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463040" y="4754880"/>
            <a:ext cx="3291840" cy="3291840"/>
          </a:xfrm>
          <a:prstGeom prst="ellipse">
            <a:avLst/>
          </a:prstGeom>
          <a:solidFill>
            <a:srgbClr val="14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548640"/>
            <a:ext cx="460857" cy="460857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26695"/>
            <a:ext cx="460857" cy="46085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2804"/>
            <a:ext cx="2852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smart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5142" y="482804"/>
            <a:ext cx="241401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Битрикс24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14884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400" b="1">
                <a:solidFill>
                  <a:srgbClr val="2FC6F5"/>
                </a:solidFill>
                <a:latin typeface="Arial"/>
              </a:rPr>
              <a:t>КЭДО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Кадровый электронный документооборот с Госключом: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B9C9DE"/>
                </a:solidFill>
                <a:latin typeface="Arial"/>
              </a:rPr>
              <a:t>документы подписываются за минуты — без бумаги, печати и курьеров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4206240" cy="603504"/>
          </a:xfrm>
          <a:prstGeom prst="roundRect">
            <a:avLst>
              <a:gd name="adj" fmla="val 50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42062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Официальный партнёр Битрикс24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B9C9DE"/>
                </a:solidFill>
                <a:latin typeface="Arial"/>
              </a:rPr>
              <a:t>Smart Business  •  внедрение, настройка и сопровождение Битрикс24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09728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E2A38"/>
                </a:solidFill>
                <a:latin typeface="Arial"/>
              </a:rPr>
              <a:t>Что такое КЭДО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Подписание кадровых документов между компанией и сотрудником онлайн — без бумаги и личных встреч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411480"/>
            <a:ext cx="326440" cy="326440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395936"/>
            <a:ext cx="326440" cy="32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5540" y="364846"/>
            <a:ext cx="2020824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E2A38"/>
                </a:solidFill>
                <a:latin typeface="Arial"/>
              </a:rPr>
              <a:t>smart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6339" y="364846"/>
            <a:ext cx="1709928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35C69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35C69"/>
                </a:solidFill>
                <a:latin typeface="Arial"/>
              </a:rPr>
              <a:t>Битрикс24 КЭДО  •  Smart Business — официальный партнёр Битрикс24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64592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645920"/>
            <a:ext cx="82296" cy="2103120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1792224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Полностью юридически значимо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2212848"/>
            <a:ext cx="5074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Электронные кадровые документы равнозначны бумажным. Правовая база:
• Федеральный закон № 377-ФЗ от 22.11.2021
• Статьи 22.1–22.3 Трудового кодекса РФ
Дублировать документы на бумаге не нужно.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77639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977639"/>
            <a:ext cx="82296" cy="2103120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123943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Где находится в Битрикс24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4544567"/>
            <a:ext cx="5074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Раздел «КЭДО + Госключ» в главном меню портала.
Сотрудники подписывают документы из браузера или мобильного приложения Битрикс24 — где бы они ни находились: в офисе, на удалёнке или в командировке.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64592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645920"/>
            <a:ext cx="82296" cy="2103120"/>
          </a:xfrm>
          <a:prstGeom prst="rect">
            <a:avLst/>
          </a:prstGeom>
          <a:solidFill>
            <a:srgbClr val="9DC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1792224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Для кого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212848"/>
            <a:ext cx="50292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• Компании с удалёнными сотрудниками и филиалами
• HR-отделы с большим потоком документов
• Бизнес, который уже работает в Битрикс24 и 1С
• Компании от 10 до 10 000+ сотрудников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977639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3977639"/>
            <a:ext cx="82296" cy="2103120"/>
          </a:xfrm>
          <a:prstGeom prst="rect">
            <a:avLst/>
          </a:prstGeom>
          <a:solidFill>
            <a:srgbClr val="F9A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4123943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Что переводится в электронный вид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544567"/>
            <a:ext cx="50292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Трудовые договоры и допсоглашения, приказы, заявления (отпуск, командировка, отгул), согласия на обработку персональных данных, положения и регламенты, ознакомление с ЛНА.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09728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E2A38"/>
                </a:solidFill>
                <a:latin typeface="Arial"/>
              </a:rPr>
              <a:t>Почему бумажный кадровый документооборот — это дорого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411480"/>
            <a:ext cx="326440" cy="326440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46920" y="395936"/>
            <a:ext cx="326440" cy="32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5540" y="364846"/>
            <a:ext cx="2020824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E2A38"/>
                </a:solidFill>
                <a:latin typeface="Arial"/>
              </a:rPr>
              <a:t>smart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86339" y="364846"/>
            <a:ext cx="1709928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35C69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35C69"/>
                </a:solidFill>
                <a:latin typeface="Arial"/>
              </a:rPr>
              <a:t>Битрикс24 КЭДО  •  Smart Business — официальный партнёр Битрикс24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1636776"/>
            <a:ext cx="118872" cy="118872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08760"/>
            <a:ext cx="5120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Долго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 — подписание с удалённым сотрудником занимает дни: печать, курьер, ожидание, возврат.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2505456"/>
            <a:ext cx="118872" cy="118872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377440"/>
            <a:ext cx="5120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Дорого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 — бумага, печать, доставка, архивное хранение, время HR.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3374136"/>
            <a:ext cx="118872" cy="118872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46120"/>
            <a:ext cx="5120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Рискованно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 — документы теряются, подписываются с опозданием или не теми датами.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14800"/>
            <a:ext cx="5120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Непрозрачно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 — непонятно, на каком этапе документ и кто его задерживает.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554480"/>
            <a:ext cx="2606040" cy="2011680"/>
          </a:xfrm>
          <a:prstGeom prst="roundRect">
            <a:avLst>
              <a:gd name="adj" fmla="val 10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719072"/>
            <a:ext cx="26060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0075FF"/>
                </a:solidFill>
                <a:latin typeface="Arial"/>
              </a:rPr>
              <a:t>−80%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514600"/>
            <a:ext cx="2240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времени HR-отдела на создание, согласование и подписание документов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554480"/>
            <a:ext cx="2606040" cy="2011680"/>
          </a:xfrm>
          <a:prstGeom prst="roundRect">
            <a:avLst>
              <a:gd name="adj" fmla="val 10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719072"/>
            <a:ext cx="26060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FC6F5"/>
                </a:solidFill>
                <a:latin typeface="Arial"/>
              </a:rPr>
              <a:t>30 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514600"/>
            <a:ext cx="2240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в месяц экономит кадровый специалист с Битрикс24 КЭДО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49039"/>
            <a:ext cx="2606040" cy="2011680"/>
          </a:xfrm>
          <a:prstGeom prst="roundRect">
            <a:avLst>
              <a:gd name="adj" fmla="val 10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913631"/>
            <a:ext cx="26060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9DCF00"/>
                </a:solidFill>
                <a:latin typeface="Arial"/>
              </a:rPr>
              <a:t>2 мин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709159"/>
            <a:ext cx="2240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среднее время подписания документа сотрудником через Госключ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52560" y="3749039"/>
            <a:ext cx="2606040" cy="2011680"/>
          </a:xfrm>
          <a:prstGeom prst="roundRect">
            <a:avLst>
              <a:gd name="adj" fmla="val 10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913631"/>
            <a:ext cx="26060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F9A91D"/>
                </a:solidFill>
                <a:latin typeface="Arial"/>
              </a:rPr>
              <a:t>0 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4709159"/>
            <a:ext cx="2240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расходов на бумагу, печать, курьеров и физический архив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09728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E2A38"/>
                </a:solidFill>
                <a:latin typeface="Arial"/>
              </a:rPr>
              <a:t>Возможности Битрикс24 КЭДО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Полный цикл работы с кадровыми документами в одном окне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411480"/>
            <a:ext cx="326440" cy="326440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395936"/>
            <a:ext cx="326440" cy="32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5540" y="364846"/>
            <a:ext cx="2020824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E2A38"/>
                </a:solidFill>
                <a:latin typeface="Arial"/>
              </a:rPr>
              <a:t>smart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6339" y="364846"/>
            <a:ext cx="1709928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35C69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35C69"/>
                </a:solidFill>
                <a:latin typeface="Arial"/>
              </a:rPr>
              <a:t>Битрикс24 КЭДО  •  Smart Business — официальный партнёр Битрикс24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60020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600200"/>
            <a:ext cx="82296" cy="2103120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1746504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Шаблоны документов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2167128"/>
            <a:ext cx="32004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Готовые и собственные шаблоны: данные компании и сотрудника подставляются автоматически из Битрикс24.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160020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25112" y="1600200"/>
            <a:ext cx="82296" cy="2103120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1746504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Комплекты документов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1144" y="2167128"/>
            <a:ext cx="32004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Наборы для типовых ситуаций: приём сотрудника — трудовой договор, NDA, согласие на обработку ПД одним кликом.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7304" y="160020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47304" y="1600200"/>
            <a:ext cx="82296" cy="2103120"/>
          </a:xfrm>
          <a:prstGeom prst="rect">
            <a:avLst/>
          </a:prstGeom>
          <a:solidFill>
            <a:srgbClr val="9DC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03336" y="1746504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Маршруты подписания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3336" y="2167128"/>
            <a:ext cx="32004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Согласующие по ролям, а не по фамилиям: «руководитель отдела», «директор». Маршрут — от компании или от сотрудника.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88620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886200"/>
            <a:ext cx="82296" cy="2103120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4032504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Подписание через Госключ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453128"/>
            <a:ext cx="32004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Бесплатное мобильное приложение: сотрудник подписывает документ со смартфона за пару минут.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388620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25112" y="3886200"/>
            <a:ext cx="82296" cy="2103120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81144" y="4032504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Интеграция с 1С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1144" y="4453128"/>
            <a:ext cx="32004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Отправка документов из 1С на подпись и автозаполнение данных сотрудников — без ручного ввода.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88620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47304" y="3886200"/>
            <a:ext cx="82296" cy="2103120"/>
          </a:xfrm>
          <a:prstGeom prst="rect">
            <a:avLst/>
          </a:prstGeom>
          <a:solidFill>
            <a:srgbClr val="9DC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6" y="4032504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Электронный архив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03336" y="4453128"/>
            <a:ext cx="32004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Все документы хранятся в одном месте: даже через 5 лет нужный файл находится в 2 клика.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09728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E2A38"/>
                </a:solidFill>
                <a:latin typeface="Arial"/>
              </a:rPr>
              <a:t>Как отправить документ на подпись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Четыре шага на стороне HR — и документ уходит сотрудникам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411480"/>
            <a:ext cx="326440" cy="326440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395936"/>
            <a:ext cx="326440" cy="32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5540" y="364846"/>
            <a:ext cx="2020824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E2A38"/>
                </a:solidFill>
                <a:latin typeface="Arial"/>
              </a:rPr>
              <a:t>smart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6339" y="364846"/>
            <a:ext cx="1709928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35C69"/>
                </a:solidFill>
                <a:latin typeface="Arial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35C69"/>
                </a:solidFill>
                <a:latin typeface="Arial"/>
              </a:rPr>
              <a:t>Битрикс24 КЭДО  •  Smart Business — официальный партнёр Битрикс24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691640"/>
            <a:ext cx="2697480" cy="1828800"/>
          </a:xfrm>
          <a:prstGeom prst="roundRect">
            <a:avLst>
              <a:gd name="adj" fmla="val 12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1874520"/>
            <a:ext cx="457200" cy="457200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185623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1819656"/>
            <a:ext cx="1737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Подготовьте документ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423160"/>
            <a:ext cx="2295144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35C69"/>
                </a:solidFill>
                <a:latin typeface="Arial"/>
              </a:rPr>
              <a:t>Загрузите файл или создайте его по шаблону — реквизиты заполнятся автоматически.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1" y="1691640"/>
            <a:ext cx="2697480" cy="1828800"/>
          </a:xfrm>
          <a:prstGeom prst="roundRect">
            <a:avLst>
              <a:gd name="adj" fmla="val 12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66159" y="1874520"/>
            <a:ext cx="457200" cy="457200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59" y="185623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9663" y="1819656"/>
            <a:ext cx="1737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Выберите компанию и представителя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59" y="2423160"/>
            <a:ext cx="2295144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35C69"/>
                </a:solidFill>
                <a:latin typeface="Arial"/>
              </a:rPr>
              <a:t>Кто подписывает со стороны работодателя (УКЭП).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7064" y="1691640"/>
            <a:ext cx="2697480" cy="1828800"/>
          </a:xfrm>
          <a:prstGeom prst="roundRect">
            <a:avLst>
              <a:gd name="adj" fmla="val 12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8232" y="1874520"/>
            <a:ext cx="457200" cy="457200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185623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31736" y="1819656"/>
            <a:ext cx="1737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Укажите провайдера подписи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2423160"/>
            <a:ext cx="2295144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35C69"/>
                </a:solidFill>
                <a:latin typeface="Arial"/>
              </a:rPr>
              <a:t>Госключ (УНЭП/УКЭП) или внутренний сервис Битрикс24 КЭДО (ПЭП).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1691640"/>
            <a:ext cx="2697480" cy="1828800"/>
          </a:xfrm>
          <a:prstGeom prst="roundRect">
            <a:avLst>
              <a:gd name="adj" fmla="val 12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90304" y="1874520"/>
            <a:ext cx="457200" cy="457200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90304" y="185623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93808" y="1819656"/>
            <a:ext cx="1737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Выберите сотрудников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423160"/>
            <a:ext cx="2295144" cy="987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35C69"/>
                </a:solidFill>
                <a:latin typeface="Arial"/>
              </a:rPr>
              <a:t>Одного, отдел или всю компанию — каждый получит уведомление.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931920"/>
            <a:ext cx="11183112" cy="205740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160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2FC6F5"/>
                </a:solidFill>
                <a:latin typeface="Arial"/>
              </a:rPr>
              <a:t>Что видит сотрудник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46634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1.  Уведомление в Битрикс24 о поступившем документе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2.  Переход в приложение Госключ на смартфоне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3.  Подписание в пару касаний — документ автоматически возвращается в Битрикс24 и попадает в архив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09728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E2A38"/>
                </a:solidFill>
                <a:latin typeface="Arial"/>
              </a:rPr>
              <a:t>Электронные подписи и Госключ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Каждая сторона подписывает документы так, как требует закон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411480"/>
            <a:ext cx="326440" cy="326440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395936"/>
            <a:ext cx="326440" cy="32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5540" y="364846"/>
            <a:ext cx="2020824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E2A38"/>
                </a:solidFill>
                <a:latin typeface="Arial"/>
              </a:rPr>
              <a:t>smart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6339" y="364846"/>
            <a:ext cx="1709928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35C69"/>
                </a:solidFill>
                <a:latin typeface="Arial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35C69"/>
                </a:solidFill>
                <a:latin typeface="Arial"/>
              </a:rPr>
              <a:t>Битрикс24 КЭДО  •  Smart Business — официальный партнёр Битрикс24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64592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645920"/>
            <a:ext cx="82296" cy="1965960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1792224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Работодатель — УКЭП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2212848"/>
            <a:ext cx="5074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Усиленная квалифицированная электронная подпись. Документы заверяет уполномоченный представитель компании.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4048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82296" cy="1965960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986784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Сотрудник — УНЭП / ПЭП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4407408"/>
            <a:ext cx="5074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Усиленная неквалифицированная подпись через Госключ или простая электронная подпись через внутренний сервис Битрикс24 КЭДО — в зависимости от типа документа.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645920"/>
            <a:ext cx="5440680" cy="41605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9202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2FC6F5"/>
                </a:solidFill>
                <a:latin typeface="Arial"/>
              </a:rPr>
              <a:t>Госключ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42316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Бесплатное мобильное приложение Минцифры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Подпись выпускается онлайн — без визита в удостоверяющий центр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Нужна только подтверждённая учётная запись на Госуслугах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Сотрудник подписывает документы со своего смартфона из любой точки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9DCF00"/>
                </a:solidFill>
                <a:latin typeface="Arial"/>
              </a:rPr>
              <a:t>•  Для сотрудника — 0 рублей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09728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E2A38"/>
                </a:solidFill>
                <a:latin typeface="Arial"/>
              </a:rPr>
              <a:t>Интеграция с 1С: без ручного ввода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Связка Битрикс24 КЭДО + 1С (в т.ч. 1С:ЗУП) исключает ошибки и двойную работу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411480"/>
            <a:ext cx="326440" cy="326440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395936"/>
            <a:ext cx="326440" cy="32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5540" y="364846"/>
            <a:ext cx="2020824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E2A38"/>
                </a:solidFill>
                <a:latin typeface="Arial"/>
              </a:rPr>
              <a:t>smart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6339" y="364846"/>
            <a:ext cx="1709928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35C69"/>
                </a:solidFill>
                <a:latin typeface="Arial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35C69"/>
                </a:solidFill>
                <a:latin typeface="Arial"/>
              </a:rPr>
              <a:t>Битрикс24 КЭДО  •  Smart Business — официальный партнёр Битрикс24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69164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691640"/>
            <a:ext cx="82296" cy="2377440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1837944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Документы из 1С — на подпись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2258568"/>
            <a:ext cx="320040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Кадровик формирует документ в привычной 1С и отправляет его на подписание в Битрикс24 КЭДО, не выходя из программы.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69164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691640"/>
            <a:ext cx="82296" cy="2377440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1837944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Данные сотрудников из 1С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258568"/>
            <a:ext cx="320040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Битрикс24 КЭДО заполняет шаблоны данными из 1С: сопоставление сотрудников настраивается один раз.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691640"/>
            <a:ext cx="3611880" cy="237744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691640"/>
            <a:ext cx="82296" cy="2377440"/>
          </a:xfrm>
          <a:prstGeom prst="rect">
            <a:avLst/>
          </a:prstGeom>
          <a:solidFill>
            <a:srgbClr val="9DC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2" y="1837944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Статусы и архив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2258568"/>
            <a:ext cx="320040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Подписанные документы и статусы синхронизируются: в 1С видно, что подписано, а что ждёт сотрудника.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89120"/>
            <a:ext cx="11201400" cy="1554480"/>
          </a:xfrm>
          <a:prstGeom prst="roundRect">
            <a:avLst>
              <a:gd name="adj" fmla="val 9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5720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Результат: 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535C69"/>
                </a:solidFill>
                <a:latin typeface="Arial"/>
              </a:rPr>
              <a:t>ноль ручного переноса данных между системами, ноль ошибок в реквизитах и датах, единый контур «1С → Битрикс24 → Госключ → архив».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09728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E2A38"/>
                </a:solidFill>
                <a:latin typeface="Arial"/>
              </a:rPr>
              <a:t>Шаблоны и комплекты документов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Типовые документы создаются за секунды, а не печатаются заново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411480"/>
            <a:ext cx="326440" cy="326440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395936"/>
            <a:ext cx="326440" cy="32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5540" y="364846"/>
            <a:ext cx="2020824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E2A38"/>
                </a:solidFill>
                <a:latin typeface="Arial"/>
              </a:rPr>
              <a:t>smart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6339" y="364846"/>
            <a:ext cx="1709928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35C69"/>
                </a:solidFill>
                <a:latin typeface="Arial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35C69"/>
                </a:solidFill>
                <a:latin typeface="Arial"/>
              </a:rPr>
              <a:t>Битрикс24 КЭДО  •  Smart Business — официальный партнёр Битрикс24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1728216"/>
            <a:ext cx="118872" cy="118872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600200"/>
            <a:ext cx="52120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Свои шаблоны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 — загрузите трудовой договор, допсоглашение, приказ или заявление компании.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2688336"/>
            <a:ext cx="118872" cy="118872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60320"/>
            <a:ext cx="52120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Автозаполнение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 — данные компании и сотрудника подставляются из Битрикс24 и 1С.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3648456"/>
            <a:ext cx="118872" cy="118872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20440"/>
            <a:ext cx="52120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Самообслуживание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 — сотрудник сам формирует заявление на отпуск или командировку по шаблону и отправляет на подпись.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4608576"/>
            <a:ext cx="118872" cy="118872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0560"/>
            <a:ext cx="521208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Подпись ПЭП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 — типовые заявления подписываются простой электронной подписью прямо в Битрикс24.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645920"/>
            <a:ext cx="5440680" cy="4206240"/>
          </a:xfrm>
          <a:prstGeom prst="roundRect">
            <a:avLst>
              <a:gd name="adj" fmla="val 6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74519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1E2A38"/>
                </a:solidFill>
                <a:latin typeface="Arial"/>
              </a:rPr>
              <a:t>Комплект «Приём сотрудника»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0" y="2423160"/>
            <a:ext cx="292608" cy="292608"/>
          </a:xfrm>
          <a:prstGeom prst="ellipse">
            <a:avLst/>
          </a:prstGeom>
          <a:solidFill>
            <a:srgbClr val="9DC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2386584"/>
            <a:ext cx="29260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2592" y="237744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Трудовой договор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0" y="3136391"/>
            <a:ext cx="292608" cy="292608"/>
          </a:xfrm>
          <a:prstGeom prst="ellipse">
            <a:avLst/>
          </a:prstGeom>
          <a:solidFill>
            <a:srgbClr val="9DC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099815"/>
            <a:ext cx="29260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2592" y="3090671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Согласие на обработку персональных данных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849624"/>
            <a:ext cx="292608" cy="292608"/>
          </a:xfrm>
          <a:prstGeom prst="ellipse">
            <a:avLst/>
          </a:prstGeom>
          <a:solidFill>
            <a:srgbClr val="9DC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813048"/>
            <a:ext cx="29260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22592" y="3803904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Положение о коммерческой тайне (NDA)</a:t>
            </a:r>
          </a:p>
        </p:txBody>
      </p:sp>
      <p:sp>
        <p:nvSpPr>
          <p:cNvPr id="31" name="Oval 30"/>
          <p:cNvSpPr/>
          <p:nvPr/>
        </p:nvSpPr>
        <p:spPr>
          <a:xfrm>
            <a:off x="6583680" y="4562856"/>
            <a:ext cx="292608" cy="292608"/>
          </a:xfrm>
          <a:prstGeom prst="ellipse">
            <a:avLst/>
          </a:prstGeom>
          <a:solidFill>
            <a:srgbClr val="9DC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526280"/>
            <a:ext cx="29260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2592" y="4517136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Ознакомление с ЛНА и должностной инструкцией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34924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075FF"/>
                </a:solidFill>
                <a:latin typeface="Arial"/>
              </a:rPr>
              <a:t>Весь комплект уходит сотруднику одним кликом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09728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E2A38"/>
                </a:solidFill>
                <a:latin typeface="Arial"/>
              </a:rPr>
              <a:t>Что остаётся на бумаге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Закон (ст. 22.1 ТК РФ) оставляет несколько исключений — важно учесть при переходе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411480"/>
            <a:ext cx="326440" cy="326440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395936"/>
            <a:ext cx="326440" cy="32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5540" y="364846"/>
            <a:ext cx="2020824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E2A38"/>
                </a:solidFill>
                <a:latin typeface="Arial"/>
              </a:rPr>
              <a:t>smart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6339" y="364846"/>
            <a:ext cx="1709928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35C69"/>
                </a:solidFill>
                <a:latin typeface="Arial"/>
              </a:rPr>
              <a:t>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35C69"/>
                </a:solidFill>
                <a:latin typeface="Arial"/>
              </a:rPr>
              <a:t>Битрикс24 КЭДО  •  Smart Business — официальный партнёр Битрикс24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691640"/>
            <a:ext cx="5577840" cy="713232"/>
          </a:xfrm>
          <a:prstGeom prst="roundRect">
            <a:avLst>
              <a:gd name="adj" fmla="val 1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691640"/>
            <a:ext cx="82296" cy="713232"/>
          </a:xfrm>
          <a:prstGeom prst="rect">
            <a:avLst/>
          </a:prstGeom>
          <a:solidFill>
            <a:srgbClr val="F9A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764792"/>
            <a:ext cx="52120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400" b="0">
                <a:solidFill>
                  <a:srgbClr val="1E2A38"/>
                </a:solidFill>
                <a:latin typeface="Arial"/>
              </a:rPr>
              <a:t>Трудовые книжки и сведения о трудовой деятельности (СТД-Р)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60320"/>
            <a:ext cx="5577840" cy="713232"/>
          </a:xfrm>
          <a:prstGeom prst="roundRect">
            <a:avLst>
              <a:gd name="adj" fmla="val 1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560320"/>
            <a:ext cx="82296" cy="713232"/>
          </a:xfrm>
          <a:prstGeom prst="rect">
            <a:avLst/>
          </a:prstGeom>
          <a:solidFill>
            <a:srgbClr val="F9A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633472"/>
            <a:ext cx="52120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400" b="0">
                <a:solidFill>
                  <a:srgbClr val="1E2A38"/>
                </a:solidFill>
                <a:latin typeface="Arial"/>
              </a:rPr>
              <a:t>Акты о несчастном случае на производстве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29000"/>
            <a:ext cx="5577840" cy="713232"/>
          </a:xfrm>
          <a:prstGeom prst="roundRect">
            <a:avLst>
              <a:gd name="adj" fmla="val 1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429000"/>
            <a:ext cx="82296" cy="713232"/>
          </a:xfrm>
          <a:prstGeom prst="rect">
            <a:avLst/>
          </a:prstGeom>
          <a:solidFill>
            <a:srgbClr val="F9A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502152"/>
            <a:ext cx="52120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400" b="0">
                <a:solidFill>
                  <a:srgbClr val="1E2A38"/>
                </a:solidFill>
                <a:latin typeface="Arial"/>
              </a:rPr>
              <a:t>Приказы (распоряжения) об увольнении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297679"/>
            <a:ext cx="5577840" cy="713232"/>
          </a:xfrm>
          <a:prstGeom prst="roundRect">
            <a:avLst>
              <a:gd name="adj" fmla="val 1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297679"/>
            <a:ext cx="82296" cy="713232"/>
          </a:xfrm>
          <a:prstGeom prst="rect">
            <a:avLst/>
          </a:prstGeom>
          <a:solidFill>
            <a:srgbClr val="F9A9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70831"/>
            <a:ext cx="52120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400" b="0">
                <a:solidFill>
                  <a:srgbClr val="1E2A38"/>
                </a:solidFill>
                <a:latin typeface="Arial"/>
              </a:rPr>
              <a:t>Документы о прохождении инструктажей по охране труда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691640"/>
            <a:ext cx="5349240" cy="192024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1691640"/>
            <a:ext cx="82296" cy="1920240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1837944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Согласие сотрудника обязательно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2258568"/>
            <a:ext cx="49377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Переход на КЭДО возможен только с письменного согласия работника. Отказ — не основание для увольнения или отказа в приёме на работу.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3840480"/>
            <a:ext cx="5349240" cy="1920240"/>
          </a:xfrm>
          <a:prstGeom prst="roundRect">
            <a:avLst>
              <a:gd name="adj" fmla="val 8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55080" y="3840480"/>
            <a:ext cx="82296" cy="1920240"/>
          </a:xfrm>
          <a:prstGeom prst="rect">
            <a:avLst/>
          </a:prstGeom>
          <a:solidFill>
            <a:srgbClr val="9DC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11112" y="3986784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E2A38"/>
                </a:solidFill>
                <a:latin typeface="Arial"/>
              </a:rPr>
              <a:t>Исключение для новичков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1112" y="4407408"/>
            <a:ext cx="49377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Сотрудников, принятых после 31.12.2021 и не имеющих трудового стажа, можно переводить на КЭДО без отдельного согласия.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09728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E2A38"/>
                </a:solidFill>
                <a:latin typeface="Arial"/>
              </a:rPr>
              <a:t>Как перейти на КЭДО: 5 шагов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535C69"/>
                </a:solidFill>
                <a:latin typeface="Arial"/>
              </a:rPr>
              <a:t>Юридическая подготовка + настройка Битрикс24 — обычно 2–4 недели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6920" y="411480"/>
            <a:ext cx="326440" cy="326440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46920" y="395936"/>
            <a:ext cx="326440" cy="32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5540" y="364846"/>
            <a:ext cx="2020824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E2A38"/>
                </a:solidFill>
                <a:latin typeface="Arial"/>
              </a:rPr>
              <a:t>smart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6339" y="364846"/>
            <a:ext cx="1709928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35C69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35C69"/>
                </a:solidFill>
                <a:latin typeface="Arial"/>
              </a:rPr>
              <a:t>Битрикс24 КЭДО  •  Smart Business — официальный партнёр Битрикс24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645920"/>
            <a:ext cx="3611880" cy="2057400"/>
          </a:xfrm>
          <a:prstGeom prst="roundRect">
            <a:avLst>
              <a:gd name="adj" fmla="val 12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1828800"/>
            <a:ext cx="457200" cy="457200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181051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2" y="1773936"/>
            <a:ext cx="26517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Локальный нормативный акт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2377440"/>
            <a:ext cx="320954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35C69"/>
                </a:solidFill>
                <a:latin typeface="Arial"/>
              </a:rPr>
              <a:t>Утвердите положение о КЭДО: система, порядок доступа, перечень документов и сроки.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5112" y="1645920"/>
            <a:ext cx="3611880" cy="2057400"/>
          </a:xfrm>
          <a:prstGeom prst="roundRect">
            <a:avLst>
              <a:gd name="adj" fmla="val 12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6280" y="1828800"/>
            <a:ext cx="457200" cy="457200"/>
          </a:xfrm>
          <a:prstGeom prst="ellipse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181051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9784" y="1773936"/>
            <a:ext cx="26517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Уведомление сотрудников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377440"/>
            <a:ext cx="320954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35C69"/>
                </a:solidFill>
                <a:latin typeface="Arial"/>
              </a:rPr>
              <a:t>Закон требует уведомить персонал о переходе на электронный документооборот до запуска.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7304" y="1645920"/>
            <a:ext cx="3611880" cy="2057400"/>
          </a:xfrm>
          <a:prstGeom prst="roundRect">
            <a:avLst>
              <a:gd name="adj" fmla="val 12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48472" y="1828800"/>
            <a:ext cx="457200" cy="457200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48472" y="181051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1773936"/>
            <a:ext cx="26517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Сбор согласий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8472" y="2377440"/>
            <a:ext cx="320954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35C69"/>
                </a:solidFill>
                <a:latin typeface="Arial"/>
              </a:rPr>
              <a:t>Получите письменные согласия — удобно собрать их прямо в Битрикс24.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886200"/>
            <a:ext cx="3611880" cy="2057400"/>
          </a:xfrm>
          <a:prstGeom prst="roundRect">
            <a:avLst>
              <a:gd name="adj" fmla="val 12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04088" y="4069080"/>
            <a:ext cx="457200" cy="457200"/>
          </a:xfrm>
          <a:prstGeom prst="ellipse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405079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7592" y="4014216"/>
            <a:ext cx="26517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Настройка Битрикс24 КЭДО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" y="4617720"/>
            <a:ext cx="320954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35C69"/>
                </a:solidFill>
                <a:latin typeface="Arial"/>
              </a:rPr>
              <a:t>Раздел «КЭДО + Госключ»: компания, представители, шаблоны, маршруты, интеграция с 1С.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5112" y="3886200"/>
            <a:ext cx="3611880" cy="2057400"/>
          </a:xfrm>
          <a:prstGeom prst="roundRect">
            <a:avLst>
              <a:gd name="adj" fmla="val 12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069080"/>
            <a:ext cx="457200" cy="457200"/>
          </a:xfrm>
          <a:prstGeom prst="ellipse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050792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9784" y="4014216"/>
            <a:ext cx="26517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500" b="1">
                <a:solidFill>
                  <a:srgbClr val="1E2A38"/>
                </a:solidFill>
                <a:latin typeface="Arial"/>
              </a:rPr>
              <a:t>Запуск и обучение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4617720"/>
            <a:ext cx="320954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535C69"/>
                </a:solidFill>
                <a:latin typeface="Arial"/>
              </a:rPr>
              <a:t>Сотрудники устанавливают Госключ, подписывают первые документы — HR контролирует статусы.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47304" y="3886200"/>
            <a:ext cx="3557016" cy="205740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4114800"/>
            <a:ext cx="3108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2FC6F5"/>
                </a:solidFill>
                <a:latin typeface="Arial"/>
              </a:rPr>
              <a:t>Smart Business берёт на себя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шаблоны ЛНА, настройку портала, интеграцию с 1С и обучение команды.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109728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1E2A38"/>
                </a:solidFill>
                <a:latin typeface="Arial"/>
              </a:rPr>
              <a:t>Выгоды и условия подключения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46920" y="411480"/>
            <a:ext cx="326440" cy="326440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46920" y="395936"/>
            <a:ext cx="326440" cy="326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5540" y="364846"/>
            <a:ext cx="2020824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E2A38"/>
                </a:solidFill>
                <a:latin typeface="Arial"/>
              </a:rPr>
              <a:t>smart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86339" y="364846"/>
            <a:ext cx="1709928" cy="3886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35C69"/>
                </a:solidFill>
                <a:latin typeface="Arial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535C69"/>
                </a:solidFill>
                <a:latin typeface="Arial"/>
              </a:rPr>
              <a:t>Битрикс24 КЭДО  •  Smart Business — официальный партнёр Битрикс24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2697480" cy="2103120"/>
          </a:xfrm>
          <a:prstGeom prst="roundRect">
            <a:avLst>
              <a:gd name="adj" fmla="val 10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64792"/>
            <a:ext cx="2697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0075FF"/>
                </a:solidFill>
                <a:latin typeface="Arial"/>
              </a:rPr>
              <a:t>−80%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60320"/>
            <a:ext cx="2331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времени на согласование и подписание кадровых документов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600200"/>
            <a:ext cx="2697480" cy="2103120"/>
          </a:xfrm>
          <a:prstGeom prst="roundRect">
            <a:avLst>
              <a:gd name="adj" fmla="val 10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764792"/>
            <a:ext cx="2697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FC6F5"/>
                </a:solidFill>
                <a:latin typeface="Arial"/>
              </a:rPr>
              <a:t>30 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560320"/>
            <a:ext cx="2331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в месяц экономии для каждого кадрового специалиста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600200"/>
            <a:ext cx="2697480" cy="2103120"/>
          </a:xfrm>
          <a:prstGeom prst="roundRect">
            <a:avLst>
              <a:gd name="adj" fmla="val 10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764792"/>
            <a:ext cx="2697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9DCF00"/>
                </a:solidFill>
                <a:latin typeface="Arial"/>
              </a:rPr>
              <a:t>2 клика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60320"/>
            <a:ext cx="2331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— и нужный документ найден в архиве даже через 5 лет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1600200"/>
            <a:ext cx="2697480" cy="2103120"/>
          </a:xfrm>
          <a:prstGeom prst="roundRect">
            <a:avLst>
              <a:gd name="adj" fmla="val 10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1764792"/>
            <a:ext cx="2697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F9A91D"/>
                </a:solidFill>
                <a:latin typeface="Arial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560320"/>
            <a:ext cx="2331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35C69"/>
                </a:solidFill>
                <a:latin typeface="Arial"/>
              </a:rPr>
              <a:t>юридическая значимость по 377-ФЗ и ТК РФ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977639"/>
            <a:ext cx="11201400" cy="1965960"/>
          </a:xfrm>
          <a:prstGeom prst="roundRect">
            <a:avLst>
              <a:gd name="adj" fmla="val 7000"/>
            </a:avLst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206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1E2A38"/>
                </a:solidFill>
                <a:latin typeface="Arial"/>
              </a:rPr>
              <a:t>Условия подключения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70916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•  КЭДО входит в тарифы Битрикс24 «Профессиональный» и «Энтерпрайз» — без доплаты за пользователей и количество документов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•  Госключ для сотрудников бесплатен; отдельные лицензии на КЭДО покупать не нужно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535C69"/>
                </a:solidFill>
                <a:latin typeface="Arial"/>
              </a:rPr>
              <a:t>•  Если вы уже на этих тарифах — инструмент достаточно настроить и запустить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C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48640"/>
            <a:ext cx="460857" cy="460857"/>
          </a:xfrm>
          <a:prstGeom prst="roundRect">
            <a:avLst>
              <a:gd name="adj" fmla="val 28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26695"/>
            <a:ext cx="460857" cy="46085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82804"/>
            <a:ext cx="2852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smart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5142" y="482804"/>
            <a:ext cx="2414016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2FC6F5"/>
                </a:solidFill>
                <a:latin typeface="Arial"/>
              </a:rPr>
              <a:t>business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Внедрим Битрикс24 КЭДО под ключ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B9C9DE"/>
                </a:solidFill>
                <a:latin typeface="Arial"/>
              </a:rPr>
              <a:t>Smart Business — официальный партнёр Битрикс24. Ростов-на-Дону, работаем с клиентами по всей России.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46120"/>
            <a:ext cx="3520440" cy="1737360"/>
          </a:xfrm>
          <a:prstGeom prst="roundRect">
            <a:avLst>
              <a:gd name="adj" fmla="val 10000"/>
            </a:avLst>
          </a:prstGeom>
          <a:solidFill>
            <a:srgbClr val="14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2FC6F5"/>
                </a:solidFill>
                <a:latin typeface="Arial"/>
              </a:rPr>
              <a:t>Аудит и план перехода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Анализ кадровых процессов, перечень документов, шаблоны ЛНА и согласий.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246120"/>
            <a:ext cx="3520440" cy="1737360"/>
          </a:xfrm>
          <a:prstGeom prst="roundRect">
            <a:avLst>
              <a:gd name="adj" fmla="val 10000"/>
            </a:avLst>
          </a:prstGeom>
          <a:solidFill>
            <a:srgbClr val="14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342900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2FC6F5"/>
                </a:solidFill>
                <a:latin typeface="Arial"/>
              </a:rPr>
              <a:t>Настройка и интеграции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93192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КЭДО + Госключ, шаблоны и маршруты, интеграция с 1С:ЗУП.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3246120"/>
            <a:ext cx="3520440" cy="1737360"/>
          </a:xfrm>
          <a:prstGeom prst="roundRect">
            <a:avLst>
              <a:gd name="adj" fmla="val 10000"/>
            </a:avLst>
          </a:prstGeom>
          <a:solidFill>
            <a:srgbClr val="14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9" y="342900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2FC6F5"/>
                </a:solidFill>
                <a:latin typeface="Arial"/>
              </a:rPr>
              <a:t>Обучение и поддержка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9" y="393192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Обучение HR и сотрудников, сопровождение после запуска.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94960"/>
            <a:ext cx="4754880" cy="685800"/>
          </a:xfrm>
          <a:prstGeom prst="roundRect">
            <a:avLst>
              <a:gd name="adj" fmla="val 50000"/>
            </a:avLst>
          </a:prstGeom>
          <a:solidFill>
            <a:srgbClr val="007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4754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Запросить демонстрацию КЭДО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5440680"/>
            <a:ext cx="5943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2FC6F5"/>
                </a:solidFill>
                <a:latin typeface="Arial"/>
              </a:rPr>
              <a:t>bitrix24.ru/partners/partner/9471955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